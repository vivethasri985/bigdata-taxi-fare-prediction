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3C5FD"/>
                </a:solidFill>
              </a:defRPr>
            </a:pPr>
            <a:r>
              <a:t>BIG DATA ANALYTICS — FINAL PROJECT REVIEW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NYC TAXI ANALYTICS &amp; BIG DATA PLATFORM</a:t>
            </a:r>
          </a:p>
          <a:p>
            <a:pPr>
              <a:defRPr sz="1500">
                <a:solidFill>
                  <a:srgbClr val="CBD5E1"/>
                </a:solidFill>
              </a:defRPr>
            </a:pPr>
            <a:r>
              <a:t>Distributed Fare Regression, Unsupervised Demand Hotspot Clustering &amp; Real-Time Stream Inference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49377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2976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3C5FD"/>
                </a:solidFill>
              </a:defRPr>
            </a:pPr>
            <a:r>
              <a:t>TEAM MEMBERS &amp; REGISTER NUMBERS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[Member 1 Name] — Reg No: [Register Number]</a:t>
            </a:r>
            <a:br/>
            <a:r>
              <a:t>• [Member 2 Name] — Reg No: [Register Number]</a:t>
            </a:r>
            <a:br/>
            <a:r>
              <a:t>• [Member 3 Name] — Reg No: [Register Number]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14800"/>
            <a:ext cx="50292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429768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3C5FD"/>
                </a:solidFill>
              </a:defRPr>
            </a:pPr>
            <a:r>
              <a:t>COURSE &amp; FACULTY DETAILS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Course: Big Data Analytics</a:t>
            </a:r>
            <a:br/>
            <a:r>
              <a:t>Faculty Name: [Faculty Name / Professor]</a:t>
            </a:r>
            <a:br/>
            <a:r>
              <a:t>Department: Computer Science &amp; Engineering</a:t>
            </a:r>
            <a:br/>
            <a:r>
              <a:t>Platform: Apache Spark 3.5.6 | Hadoop 3.4.3 | Scala 2.12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2: FOUNDATIONS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Problem Statement, Objectives &amp; Why Big Data is Needed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1. Problem Statement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Urban Mobility Bottlenecks:</a:t>
            </a:r>
            <a:br/>
            <a:r>
              <a:t>New York City experiences over 175M+ taxi hailing events with massive volatility across 263 geographical zones.</a:t>
            </a:r>
            <a:br/>
            <a:br/>
            <a:r>
              <a:t>• Price Uncertainty:</a:t>
            </a:r>
            <a:br/>
            <a:r>
              <a:t>Passengers and fleet operators lack transparent pre-ride fare transparency under varying road congestion, tolls, and weather.</a:t>
            </a:r>
            <a:br/>
            <a:br/>
            <a:r>
              <a:t>• Supply-Demand Imbalance:</a:t>
            </a:r>
            <a:br/>
            <a:r>
              <a:t>Drivers cluster around saturated hubs while outer boroughs experience severe transit deficits without real-time spatial guidance.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08576" y="155448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2. Project Objectives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Supervised Fare Estimation:</a:t>
            </a:r>
            <a:br/>
            <a:r>
              <a:t>Train an interpretable, production-grade Linear Regression model on 26.8M training trips to predict exact dollar fares.</a:t>
            </a:r>
            <a:br/>
            <a:br/>
            <a:r>
              <a:t>• Unsupervised Hotspot Regimes:</a:t>
            </a:r>
            <a:br/>
            <a:r>
              <a:t>Segment NYC into 3 distinct operational regimes (Low, Moderate, High Hotspot) using distributed K-Means (K=3).</a:t>
            </a:r>
            <a:br/>
            <a:br/>
            <a:r>
              <a:t>• Real-Time Stream Inference:</a:t>
            </a:r>
            <a:br/>
            <a:r>
              <a:t>Deploy a dual-branch Spark Structured Streaming engine evaluating pointwise fares and sliding 1-hour window demand velocity in 3-second micro-batches.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37160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2" y="155448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580C"/>
                </a:solidFill>
              </a:defRPr>
            </a:pPr>
            <a:r>
              <a:t>3. Why Big Data is Needed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Single-Node Memory Limits:</a:t>
            </a:r>
            <a:br/>
            <a:r>
              <a:t>175M+ raw trips (~28 GB uncompressed) cannot be parsed or trained in traditional single-machine RAM (Pandas/Scikit-Learn crash with OOM errors).</a:t>
            </a:r>
            <a:br/>
            <a:br/>
            <a:r>
              <a:t>• Multi-Variable Spatial Shuffle:</a:t>
            </a:r>
            <a:br/>
            <a:r>
              <a:t>Aggregating 4.63 million (Zone × Date × Hour) demand bins requires distributed MapReduce shuffles across cluster nodes.</a:t>
            </a:r>
            <a:br/>
            <a:br/>
            <a:r>
              <a:t>• Sub-Second Real-Time SLAs:</a:t>
            </a:r>
            <a:br/>
            <a:r>
              <a:t>Evaluating in-flight streaming taxi micro-batches while maintaining fault-tolerant checkpoints requires Apache Spark &amp; HDFS.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3: DATA FOUNDATIONS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Dataset Description: Source, Sizing, the 4 V's &amp; Key Attributes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Data Source &amp; Big Data Characteristics (The 4 V's)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Data Sources:</a:t>
            </a:r>
            <a:br/>
            <a:r>
              <a:t>  1. Official NYC TLC (Taxi &amp; Limousine Commission) Yellow/Green trip records.</a:t>
            </a:r>
            <a:br/>
            <a:r>
              <a:t>  2. Open-Meteo NYC Hourly Historical Surface Weather API.</a:t>
            </a:r>
            <a:br/>
            <a:br/>
            <a:r>
              <a:t>• VOLUME: 53 Monthly Parquet Files (Jan 2022 &amp;ndash; May 2026)</a:t>
            </a:r>
            <a:br/>
            <a:r>
              <a:t>  - 33,484,865 cleaned records in Parquet feature store.</a:t>
            </a:r>
            <a:br/>
            <a:r>
              <a:t>  - 45.3 GB total physical HDFS disk usage (replicated 2x on DataNodes).</a:t>
            </a:r>
            <a:br/>
            <a:r>
              <a:t>  - 17.8 GB logical processed data (4.9 GB feature vectors in snappy parquet).</a:t>
            </a:r>
            <a:br/>
            <a:br/>
            <a:r>
              <a:t>• VARIETY: Semi-structured JSON streaming, Parquet columnar tabular, and relational zone lookup tables.</a:t>
            </a:r>
            <a:br/>
            <a:br/>
            <a:r>
              <a:t>• VELOCITY: Live stream simulated at ~10 trips/sec, processed in 3s micro-batches.</a:t>
            </a:r>
            <a:br/>
            <a:br/>
            <a:r>
              <a:t>• VERACITY: Filtered anomalous distances (0.1 to 100 mi), passenger counts (1 to 6), and valid metered fares ($3.00 to $500.00).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Chronological Split &amp; Key Engineered Attributes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Leak-Free Temporal Train/Val/Test Split:</a:t>
            </a:r>
            <a:br/>
            <a:r>
              <a:t>  - Training Set (80.0%): 26,787,892 rows (48 Months: Jan 2022 &amp;ndash; Dec 2025)</a:t>
            </a:r>
            <a:br/>
            <a:r>
              <a:t>  - Validation Set: Early 2026 (Jan &amp;ndash; Feb 2026, tuning candidate regParam)</a:t>
            </a:r>
            <a:br/>
            <a:r>
              <a:t>  - Test Set (20.0%): 6,696,973 rows (3 Months: Mar &amp;ndash; May 2026)</a:t>
            </a:r>
            <a:br/>
            <a:r>
              <a:t>  *Zero future data leakage; tests authentic out-of-sample generalization.</a:t>
            </a:r>
            <a:br/>
            <a:br/>
            <a:r>
              <a:t>• 19 Key Model Attributes:</a:t>
            </a:r>
            <a:br/>
            <a:r>
              <a:t>  - Spatial: pickup_location_id, dropoff_location_id, pickup_borough, dropoff_borough, pickup_zone.</a:t>
            </a:r>
            <a:br/>
            <a:r>
              <a:t>  - Trip Kinematics: trip_distance, estimated_duration, average_speed, passenger_count.</a:t>
            </a:r>
            <a:br/>
            <a:r>
              <a:t>  - Temporal: pickup_hour (0-23), day_of_week (1-7), is_weekend (0/1).</a:t>
            </a:r>
            <a:br/>
            <a:r>
              <a:t>  - Atmospheric Weather: temperature_2m (°C), precipitation (mm), wind_speed_10m, weather_code.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4: CLUSTER &amp; COMPONENT TOPOLOGY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End-to-End System Architecture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Distributed Component Topology &amp; Data Flow</a:t>
            </a:r>
          </a:p>
          <a:p>
            <a:br/>
            <a:pPr>
              <a:defRPr sz="750">
                <a:solidFill>
                  <a:srgbClr val="0F172A"/>
                </a:solidFill>
                <a:latin typeface="Consolas"/>
              </a:defRPr>
            </a:pPr>
            <a:r>
              <a:t>    +-------------------------------------------------------------------------------------------------------------+</a:t>
            </a:r>
            <a:br/>
            <a:r>
              <a:t>    |                                            STORAGE LAYER (HADOOP HDFS)                                      |</a:t>
            </a:r>
            <a:br/>
            <a:r>
              <a:t>    |   NameNode (Port 9870 / 9000)  &lt;======================&gt; DataNode 1 &amp; DataNode 2 (Port 9864, Replication: 2)  |</a:t>
            </a:r>
            <a:br/>
            <a:r>
              <a:t>    |   • /surgesense/raw/trips/ (53 Parquet files)           • /surgesense/models/ (feature_encoder, lr, kmeans) |</a:t>
            </a:r>
            <a:br/>
            <a:r>
              <a:t>    |   • /surgesense/processed/features (33.5M records)      • /surgesense/streaming/ (checkpoints &amp; live sinks) |</a:t>
            </a:r>
            <a:br/>
            <a:r>
              <a:t>    +------------------------------------------------------+------------------------------------------------------+</a:t>
            </a:r>
            <a:br/>
            <a:r>
              <a:t>                                                           | (Parallel Vectorized Block Reads / 128 MB Splits)</a:t>
            </a:r>
            <a:br/>
            <a:r>
              <a:t>                                                           v</a:t>
            </a:r>
            <a:br/>
            <a:r>
              <a:t>    +------------------------------------------------------+------------------------------------------------------+</a:t>
            </a:r>
            <a:br/>
            <a:r>
              <a:t>    |                                   DISTRIBUTED PROCESSING LAYER (APACHE SPARK 3.5.6)                         |</a:t>
            </a:r>
            <a:br/>
            <a:r>
              <a:t>    |   Spark Master (Port 8080 / 7077) &lt;===================&gt; Spark Worker (Executors, Port 8081)                 |</a:t>
            </a:r>
            <a:br/>
            <a:r>
              <a:t>    |   • Web UI (Port 4040): Stage DAGs, Shuffle Partitions, Micro-batch Timers                                  |</a:t>
            </a:r>
            <a:br/>
            <a:r>
              <a:t>    |   • Batch Pipeline: FeatureEngineering.scala, FinalLinearRegression.scala, DemandHotspotsV2.scala           |</a:t>
            </a:r>
            <a:br/>
            <a:r>
              <a:t>    |   • Streaming Engine: StreamingInference.scala (Dual-Branch 3s Micro-batches, 1-hr Sliding Window)          |</a:t>
            </a:r>
            <a:br/>
            <a:r>
              <a:t>    +------------------------------------------------------+------------------------------------------------------+</a:t>
            </a:r>
            <a:br/>
            <a:r>
              <a:t>                                                           | WebHDFS REST API (Port 9870)</a:t>
            </a:r>
            <a:br/>
            <a:r>
              <a:t>                                                           v</a:t>
            </a:r>
            <a:br/>
            <a:r>
              <a:t>    +------------------------------------------------------+------------------------------------------------------+</a:t>
            </a:r>
            <a:br/>
            <a:r>
              <a:t>    |                                     PRESENTATION &amp; VISUALIZATION LAYER                                      |</a:t>
            </a:r>
            <a:br/>
            <a:r>
              <a:t>    |   Telemetry Bridge (bridge.py)        ===&gt; Aggregates HDFS JSON snapshots into streaming_data.json         |</a:t>
            </a:r>
            <a:br/>
            <a:r>
              <a:t>    |   Sync Script (sync_streaming.py)     ===&gt; Copies streaming payload to web-dashboard every 2 seconds        |</a:t>
            </a:r>
            <a:br/>
            <a:r>
              <a:t>    |   Python HTTP Server (Port 8000)      ===&gt; Delivers HTML5, CSS3, vanilla JS (app.js) to browser client      |</a:t>
            </a:r>
            <a:br/>
            <a:r>
              <a:t>    |   Interactive Client Engine           ===&gt; Leaflet.js (GIS Map) &amp; Chart.js (Real-Time Visualizations)       |</a:t>
            </a:r>
            <a:br/>
            <a:r>
              <a:t>    +-------------------------------------------------------------------------------------------------------------+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5: BIG DATA EXECUTION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Spark Workflow: DataFrame Operations, DAG, Partitioning &amp; Caching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1. Why DataFrames over RDDs &amp; DAG Optimization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Modern Spark DataFrame API (Dataset[Row] in Scala):</a:t>
            </a:r>
            <a:br/>
            <a:r>
              <a:t>  - We strictly use the DataFrame-based spark.ml pipeline API rather than legacy RDD spark.mllib.</a:t>
            </a:r>
            <a:br/>
            <a:br/>
            <a:r>
              <a:t>• Catalyst Query Optimizer:</a:t>
            </a:r>
            <a:br/>
            <a:r>
              <a:t>  - Predicate Pushdown: Drops corrupt/unneeded rows directly at the HDFS Parquet storage reader before loading into RAM.</a:t>
            </a:r>
            <a:br/>
            <a:r>
              <a:t>  - Projection Pruning: Loads only the 19 required columns rather than scanning entire rows.</a:t>
            </a:r>
            <a:br/>
            <a:br/>
            <a:r>
              <a:t>• Project Tungsten Binary Execution:</a:t>
            </a:r>
            <a:br/>
            <a:r>
              <a:t>  - Employs off-heap memory encoding; eliminates JVM Java Object deserialization overhead and Garbage Collection (GC) pauses on 33.5M records.</a:t>
            </a:r>
            <a:br/>
            <a:br/>
            <a:r>
              <a:t>• Directed Acyclic Graph (DAG) Multi-Stage Execution:</a:t>
            </a:r>
            <a:br/>
            <a:r>
              <a:t>  - Narrow Dependencies (Map, Filter, WithColumn): Pipelined into a single stage without network shuffle.</a:t>
            </a:r>
            <a:br/>
            <a:r>
              <a:t>  - Wide Dependencies (GroupBy, Exchange HashPartitioning): Executed during K-Means spatio-temporal binning and regression evaluation across worker executors.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2. Partitioning Strategy &amp; Caching Choices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Shuffle Partition Tuning:</a:t>
            </a:r>
            <a:br/>
            <a:r>
              <a:t>  - Configured spark.sql.shuffle.partitions = 8 to match cluster CPU core capacity, eliminating small-file fragmentation and shuffle IO bottlenecks.</a:t>
            </a:r>
            <a:br/>
            <a:br/>
            <a:r>
              <a:t>• Strategic Memory Caching (.cache() / persist()):</a:t>
            </a:r>
            <a:br/>
            <a:r>
              <a:t>  1. demandDF.cache(): Reused repeatedly across K in [2, 8] candidate evaluation loops, avoiding re-scanning 4.63M rows from HDFS 7 times.</a:t>
            </a:r>
            <a:br/>
            <a:r>
              <a:t>  2. scaledDF.cache(): Pre-computed StandardScaler vectors pinned in executor RAM for iterative K-Means centroid convergence.</a:t>
            </a:r>
            <a:br/>
            <a:r>
              <a:t>  3. predictions.cache(): Cached during FareErrorAnalysis to calculate MAE, RMSE, and 4 slice tables from a single memory pass.</a:t>
            </a:r>
            <a:br/>
            <a:br/>
            <a:r>
              <a:t>• Mandatory Cleanup (.unpersist()):</a:t>
            </a:r>
            <a:br/>
            <a:r>
              <a:t>  - Every cached DataFrame is explicitly unpersisted at job completion to prevent executor memory leaks.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6: SCALA ENGINEERING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Scala Implementation: Project Structure &amp; Core Code Snippets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572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206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563EB"/>
                </a:solidFill>
              </a:defRPr>
            </a:pPr>
            <a:r>
              <a:t>SBT Project Structure &amp; Package Hierarchy</a:t>
            </a:r>
          </a:p>
          <a:p>
            <a:pPr>
              <a:defRPr sz="850">
                <a:solidFill>
                  <a:srgbClr val="0F172A"/>
                </a:solidFill>
                <a:latin typeface="Consolas"/>
              </a:defRPr>
            </a:pPr>
            <a:r>
              <a:t>surgesense-project/</a:t>
            </a:r>
            <a:br/>
            <a:r>
              <a:t>├── build.sbt (Scala 2.12.18, Spark 3.5.6)</a:t>
            </a:r>
            <a:br/>
            <a:r>
              <a:t>└── src/main/scala/surgesense/</a:t>
            </a:r>
            <a:br/>
            <a:r>
              <a:t>    ├── Phase1SplitAndEDA.scala</a:t>
            </a:r>
            <a:br/>
            <a:r>
              <a:t>    │   └── Temporal leak-free split</a:t>
            </a:r>
            <a:br/>
            <a:r>
              <a:t>    ├── FeatureEngineering.scala</a:t>
            </a:r>
            <a:br/>
            <a:r>
              <a:t>    │   └── OneHotEncoder &amp; Pipeline</a:t>
            </a:r>
            <a:br/>
            <a:r>
              <a:t>    ├── FinalLinearRegression.scala</a:t>
            </a:r>
            <a:br/>
            <a:r>
              <a:t>    │   └── L-BFGS Ridge regression</a:t>
            </a:r>
            <a:br/>
            <a:r>
              <a:t>    ├── DemandHotspotsV2.scala</a:t>
            </a:r>
            <a:br/>
            <a:r>
              <a:t>    │   └── log1p K-Means clustering</a:t>
            </a:r>
            <a:br/>
            <a:r>
              <a:t>    ├── FareErrorAnalysis.scala</a:t>
            </a:r>
            <a:br/>
            <a:r>
              <a:t>    │   └── Multi-slice error metrics</a:t>
            </a:r>
            <a:br/>
            <a:r>
              <a:t>    └── StreamingInference.scala</a:t>
            </a:r>
            <a:br/>
            <a:r>
              <a:t>        └── Structured Streaming engine</a:t>
            </a:r>
            <a:br/>
            <a:br/>
            <a:r>
              <a:t>• Compilation: sbt package -&gt; produces target/scala-2.12/surgesense_2.12-1.0.jar</a:t>
            </a:r>
            <a:br/>
            <a:r>
              <a:t>• Submission: spark-submit --master spark://spark-master:7077 --deploy-mode client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0" y="1371600"/>
            <a:ext cx="58521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0" y="155448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59669"/>
                </a:solidFill>
              </a:defRPr>
            </a:pPr>
            <a:r>
              <a:t>Key Production Scala Code Snippets</a:t>
            </a:r>
          </a:p>
          <a:p>
            <a:pPr>
              <a:defRPr sz="819">
                <a:solidFill>
                  <a:srgbClr val="0F172A"/>
                </a:solidFill>
                <a:latin typeface="Consolas"/>
              </a:defRPr>
            </a:pPr>
            <a:r>
              <a:t>// 1. Regularized Linear Regression Pipeline (FinalLinearRegression.scala)</a:t>
            </a:r>
            <a:br/>
            <a:r>
              <a:t>val lr = new LinearRegression()</a:t>
            </a:r>
            <a:br/>
            <a:r>
              <a:t>  .setLabelCol("fare_amount")</a:t>
            </a:r>
            <a:br/>
            <a:r>
              <a:t>  .setFeaturesCol("scaled_features")</a:t>
            </a:r>
            <a:br/>
            <a:r>
              <a:t>  .setMaxIter(100)</a:t>
            </a:r>
            <a:br/>
            <a:r>
              <a:t>  .setRegParam(0.10)       // L2 Regularization (Ridge)</a:t>
            </a:r>
            <a:br/>
            <a:r>
              <a:t>  .setSolver("l-bfgs")      // Limited-memory BFGS quasi-Newton</a:t>
            </a:r>
            <a:br/>
            <a:r>
              <a:t>val lrModel = lr.fit(trainDF)</a:t>
            </a:r>
            <a:br/>
            <a:r>
              <a:t>lrModel.write.overwrite().save("hdfs://namenode:9000/surgesense/models/...")</a:t>
            </a:r>
            <a:br/>
            <a:br/>
            <a:r>
              <a:t>// 2. Stateful Sliding Window Stream (StreamingInference.scala)</a:t>
            </a:r>
            <a:br/>
            <a:r>
              <a:t>val windowedStream = rawStream</a:t>
            </a:r>
            <a:br/>
            <a:r>
              <a:t>  .withWatermark("pickup_datetime", "10 minutes")</a:t>
            </a:r>
            <a:br/>
            <a:r>
              <a:t>  .groupBy(</a:t>
            </a:r>
            <a:br/>
            <a:r>
              <a:t>    window(col("pickup_datetime"), "1 hour", "5 minutes"),</a:t>
            </a:r>
            <a:br/>
            <a:r>
              <a:t>    col("pickup_zone"), col("pickup_borough")</a:t>
            </a:r>
            <a:br/>
            <a:r>
              <a:t>  )</a:t>
            </a:r>
            <a:br/>
            <a:r>
              <a:t>  .agg(count("*").cast("double").alias("pickup_count"))</a:t>
            </a:r>
            <a:br/>
            <a:br/>
            <a:r>
              <a:t>// 3. Online K-Means Inference</a:t>
            </a:r>
            <a:br/>
            <a:r>
              <a:t>val clustered = kmeansModel.transform(scaledStream)</a:t>
            </a:r>
            <a:br/>
            <a:r>
              <a:t>  .withColumn("demand_tier",</a:t>
            </a:r>
            <a:br/>
            <a:r>
              <a:t>    when(col("cluster") === 2, "HIGH-DEMAND HOTSPOT")</a:t>
            </a:r>
            <a:br/>
            <a:r>
              <a:t>    .when(col("cluster") === 0, "MODERATE DEMAND")</a:t>
            </a:r>
            <a:br/>
            <a:r>
              <a:t>    .otherwise("LOW DEMAND"))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7: MACHINE LEARNING PIPELINE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Spark ML Pipelines: Feature Encoding, Algorithms &amp; Hyperparameter Tuning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Track 1: Supervised Fare Prediction Pipeline</a:t>
            </a:r>
          </a:p>
          <a:p>
            <a:pPr>
              <a:defRPr sz="980">
                <a:solidFill>
                  <a:srgbClr val="1E293B"/>
                </a:solidFill>
              </a:defRPr>
            </a:pPr>
            <a:r>
              <a:t>• Spark ML Pipeline Architecture:</a:t>
            </a:r>
            <a:br/>
            <a:r>
              <a:t>  Raw Inputs -&gt; StringIndexer (Boroughs) -&gt; OneHotEncoder -&gt; VectorAssembler (19 features) -&gt; StandardScaler -&gt; LinearRegression(L-BFGS).</a:t>
            </a:r>
            <a:br/>
            <a:br/>
            <a:r>
              <a:t>• Mathematical Loss Objective:</a:t>
            </a:r>
            <a:br/>
            <a:r>
              <a:t>  min_w (1/2N) * sum((w^T * x + b - y)^2) + (lambda/2) * ||w||_2^2</a:t>
            </a:r>
            <a:br/>
            <a:br/>
            <a:r>
              <a:t>• Hyperparameter Optimization:</a:t>
            </a:r>
            <a:br/>
            <a:r>
              <a:t>  - Evaluated candidate regParam in {0.001, 0.01, 0.10, 0.50} on validation split.</a:t>
            </a:r>
            <a:br/>
            <a:r>
              <a:t>  - regParam = 0.10 achieved global minimum RMSE ($7.7889) and MAE ($4.4027).</a:t>
            </a:r>
            <a:br/>
            <a:br/>
            <a:r>
              <a:t>• Key Model Weights &amp; Physical Interpretability:</a:t>
            </a:r>
            <a:br/>
            <a:r>
              <a:t>  - Base Intercept: +$7.89 (base flag-drop + improvement surcharges)</a:t>
            </a:r>
            <a:br/>
            <a:r>
              <a:t>  - Trip Distance: +$2.162 / mile (aligned with TLC regulated rate)</a:t>
            </a:r>
            <a:br/>
            <a:r>
              <a:t>  - Duration: +$0.360 / minute (elapsed delay in Manhattan grid)</a:t>
            </a:r>
            <a:br/>
            <a:r>
              <a:t>  - Airport Access Toll: +$18.50 (JFK/LGA access &amp; bridge tolls)</a:t>
            </a:r>
            <a:br/>
            <a:r>
              <a:t>  - Congestion Surcharge: +$2.50 (Manhattan south of 96th St).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Track 2: Unsupervised Hotspot Clustering Pipeline</a:t>
            </a:r>
          </a:p>
          <a:p>
            <a:pPr>
              <a:defRPr sz="980">
                <a:solidFill>
                  <a:srgbClr val="1E293B"/>
                </a:solidFill>
              </a:defRPr>
            </a:pPr>
            <a:r>
              <a:t>• Spatial Demand Vector Formulation:</a:t>
            </a:r>
            <a:br/>
            <a:r>
              <a:t>  Transformed 4.63M intervals into x = [log1p(pickup_count), pickup_hour]^T.</a:t>
            </a:r>
            <a:br/>
            <a:br/>
            <a:r>
              <a:t>• Why log1p(x) Transformation Was Critical:</a:t>
            </a:r>
            <a:br/>
            <a:r>
              <a:t>  Raw pickup counts exhibit extreme right skew (some zones have 1,000+ pickups/hr while outer boroughs have 2). log1p(x) compressed the tail, preventing extreme centroids from warping Euclidean distance.</a:t>
            </a:r>
            <a:br/>
            <a:br/>
            <a:r>
              <a:t>• Denoising (V1 Baseline vs V2 Refined):</a:t>
            </a:r>
            <a:br/>
            <a:r>
              <a:t>  - V1 (6 noisy features including weather): Silhouette = 0.3898.</a:t>
            </a:r>
            <a:br/>
            <a:r>
              <a:t>  - V2 (Denoised demand + hour): Silhouette = 0.6399 (+64.2% boost).</a:t>
            </a:r>
            <a:br/>
            <a:br/>
            <a:r>
              <a:t>• K-Selection Evaluation across K in [2, 8]:</a:t>
            </a:r>
            <a:br/>
            <a:r>
              <a:t>  - K=2: 0.5326 | K=3: 0.6399 (Global Peak) | K=4: 0.6270</a:t>
            </a:r>
            <a:br/>
            <a:r>
              <a:t>  - K=5: 0.5643 | K=6: 0.5550 | K=7: 0.5630 | K=8: 0.5394</a:t>
            </a:r>
            <a:br/>
            <a:r>
              <a:t>  - K=3 was mathematically proven optimal by ClusteringEvaluator.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8: EMPIRICAL FINDINGS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Results: Metrics Table, Model Comparison &amp; Business Insights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Linear Regression: Baseline vs. Tuned Results</a:t>
            </a:r>
          </a:p>
          <a:p>
            <a:pPr>
              <a:defRPr sz="850">
                <a:solidFill>
                  <a:srgbClr val="0F172A"/>
                </a:solidFill>
                <a:latin typeface="Consolas"/>
              </a:defRPr>
            </a:pPr>
            <a:r>
              <a:t>Evaluated on 6,696,973 Official Test Rows in HDFS:</a:t>
            </a:r>
            <a:br/>
            <a:br/>
            <a:r>
              <a:t>Metric                         Baseline (0.01)    Tuned (0.10)</a:t>
            </a:r>
            <a:br/>
            <a:r>
              <a:t>--------------------------------------------------------------</a:t>
            </a:r>
            <a:br/>
            <a:r>
              <a:t>R-Squared Score (R²)              0.799582          0.799821</a:t>
            </a:r>
            <a:br/>
            <a:r>
              <a:t>Root Mean Squared Error (RMSE)    $7.7935           $7.7889</a:t>
            </a:r>
            <a:br/>
            <a:r>
              <a:t>Mean Absolute Error (MAE)         $4.4118           $4.4027</a:t>
            </a:r>
            <a:br/>
            <a:r>
              <a:t>Tolerance (Within ±$2.00)         26.0683%          26.3034%</a:t>
            </a:r>
            <a:br/>
            <a:br/>
            <a:r>
              <a:t>• Commercial Significance of Tolerance Accuracy:</a:t>
            </a:r>
            <a:br/>
            <a:r>
              <a:t>  Over 1.76 MILLION test rides (1,761,438 trips) were predicted within less than ±$2.00 of the real meter fare.</a:t>
            </a:r>
            <a:br/>
            <a:r>
              <a:t>• Error Slicing Breakdown:</a:t>
            </a:r>
            <a:br/>
            <a:r>
              <a:t>  - 2-5 miles: MAE = $3.71 (Sweet spot, bulk of NYC rides)</a:t>
            </a:r>
            <a:br/>
            <a:r>
              <a:t>  - $10-$20 fares: MAE = $2.69 (Peak accuracy)</a:t>
            </a:r>
            <a:br/>
            <a:r>
              <a:t>  - 5:00 AM Error Spike: MAE rises to $6.50 due to long airport runs and high vehicle speed variance on empty highways.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K-Means Cluster Profiles &amp; Urban Insights</a:t>
            </a:r>
          </a:p>
          <a:p>
            <a:pPr>
              <a:defRPr sz="850">
                <a:solidFill>
                  <a:srgbClr val="0F172A"/>
                </a:solidFill>
                <a:latin typeface="Consolas"/>
              </a:defRPr>
            </a:pPr>
            <a:r>
              <a:t>Operational K-Means Cluster Profiles (K=3, Full 4.63M Bins):</a:t>
            </a:r>
            <a:br/>
            <a:br/>
            <a:r>
              <a:t>Cluster Tier               Intervals    Avg Pickups/hr   Total Trips</a:t>
            </a:r>
            <a:br/>
            <a:r>
              <a:t>--------------------------------------------------------------------</a:t>
            </a:r>
            <a:br/>
            <a:r>
              <a:t>Cluster 1: Low Demand      1,527,610       3.49 pickups      5.3M (3.0%)</a:t>
            </a:r>
            <a:br/>
            <a:r>
              <a:t>Cluster 0: Moderate Demand 1,806,732       8.89 pickups     16.1M (9.1%)</a:t>
            </a:r>
            <a:br/>
            <a:r>
              <a:t>Cluster 2: High Hotspot    1,295,875     119.13 pickups    154.4M (87.8%)</a:t>
            </a:r>
            <a:br/>
            <a:br/>
            <a:r>
              <a:t>• The Transportation Pareto Principle (Key Finding):</a:t>
            </a:r>
            <a:br/>
            <a:r>
              <a:t>  High-demand hotspots represent only 28.0% of operational intervals, yet they capture 87.8% of all taxi trips in NYC!</a:t>
            </a:r>
            <a:br/>
            <a:r>
              <a:t>• Top Hotspot Corridors:</a:t>
            </a:r>
            <a:br/>
            <a:r>
              <a:t>  Upper East Side S (7.96M), JFK Airport (7.82M), Midtown Center (7.44M).</a:t>
            </a:r>
            <a:br/>
            <a:r>
              <a:t>• Weather Insensitivity:</a:t>
            </a:r>
            <a:br/>
            <a:r>
              <a:t>  Clear weather (119.09 pickups/hr) vs Rain (119.32 pickups/hr) shows fleet supply saturation; rain increases wait times, not physical vehicle capacity.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9: CRITICAL EVALUATION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Challenges, Limitations, Conclusion &amp; Future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A580C"/>
                </a:solidFill>
              </a:defRPr>
            </a:pPr>
            <a:r>
              <a:t>Technical Challenges &amp; Limitations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Extreme Class &amp; Spatial Imbalance:</a:t>
            </a:r>
            <a:br/>
            <a:r>
              <a:t>  Over 87% of rides concentrate in commercial Manhattan and airport corridors. Outer boroughs (Bronx, Staten Island) have sparse signal.</a:t>
            </a:r>
            <a:br/>
            <a:br/>
            <a:r>
              <a:t>• Long-Distance Variance (20+ miles):</a:t>
            </a:r>
            <a:br/>
            <a:r>
              <a:t>  Trips over 20 miles exhibit MAE of $19.33 due to unobserved bridge/tunnel tolls (Verrazzano $16+) and regulatory JFK flat rates ($70.00). Ingesting post-trip tolls_amount would cause target leakage.</a:t>
            </a:r>
            <a:br/>
            <a:br/>
            <a:r>
              <a:t>• Streaming Event-Time Skew &amp; Latency:</a:t>
            </a:r>
            <a:br/>
            <a:r>
              <a:t>  Late-arriving trips in distributed networks require memory-safe watermarking (10 minutes) and state eviction to prevent executor OOM crashes.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Conclusion &amp; Phase 2 Engineering Roadmap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Project Conclusion:</a:t>
            </a:r>
            <a:br/>
            <a:r>
              <a:t>  Successfully engineered an enterprise big data pipeline on Apache Spark and Hadoop HDFS processing 33.5M records. Achieved R² = 0.7998 (~80% variance explained) and K-Means Silhouette = 0.6399 with sub-second real-time streaming scoring.</a:t>
            </a:r>
            <a:br/>
            <a:br/>
            <a:r>
              <a:t>• Phase 2 Future Roadmap:</a:t>
            </a:r>
            <a:br/>
            <a:r>
              <a:t>  1. Spatial Toll-Matrix Lookup: Integrate an OSRM / GIS routing engine to calculate pre-ride toll bridge crossings prior to inference.</a:t>
            </a:r>
            <a:br/>
            <a:r>
              <a:t>  2. Hierarchical Model Pipeline: A rule filter to intercept statutory airport flat rates ($70 JFK) and piecewise regression for local vs long-haul trips.</a:t>
            </a:r>
            <a:br/>
            <a:r>
              <a:t>  3. Kafka Ingestion Layer: Integrate Apache Kafka as an enterprise distributed message broker upstream of Spark Streaming.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10: DELIVERABLES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References &amp; Project Artifacts Repository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Academic References &amp; Open-Source Artifacts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1. New York City Taxi and Limousine Commission (TLC) Trip Record Data (2022 - 2026).</a:t>
            </a:r>
            <a:br/>
            <a:r>
              <a:t>   Available: https://www.nyc.gov/site/tlc/about/tlc-trip-record-data.page</a:t>
            </a:r>
            <a:br/>
            <a:br/>
            <a:r>
              <a:t>2. Open-Meteo Historical Weather API — High-Resolution Atmospheric Surface Reanalysis for NYC.</a:t>
            </a:r>
            <a:br/>
            <a:r>
              <a:t>   Available: https://open-meteo.com/en/docs/historical-weather-api</a:t>
            </a:r>
            <a:br/>
            <a:br/>
            <a:r>
              <a:t>3. Zaharia, M., et al. "Apache Spark: A Unified Engine for Big Data Processing."</a:t>
            </a:r>
            <a:br/>
            <a:r>
              <a:t>   Communications of the ACM, Vol. 59, No. 11, 2016.</a:t>
            </a:r>
            <a:br/>
            <a:br/>
            <a:r>
              <a:t>4. Armbrust, M., et al. "Structured Streaming: A Declarative API for Real-Time Applications in Apache Spark."</a:t>
            </a:r>
            <a:br/>
            <a:r>
              <a:t>   ACM SIGMOD International Conference on Management of Data, 2018.</a:t>
            </a:r>
            <a:br/>
            <a:br/>
            <a:r>
              <a:t>5. Biau, G. "Analysis of a Random Forests Model." Journal of Machine Learning Research, 2012.</a:t>
            </a:r>
            <a:br/>
            <a:br/>
            <a:r>
              <a:t>-------------------------------------------------------------------------------------------------------------</a:t>
            </a:r>
            <a:br/>
            <a:r>
              <a:t>PROJECT REPOSITORY &amp; DEMONSTRATION ARTIFACTS:</a:t>
            </a:r>
            <a:br/>
            <a:r>
              <a:t>• GitHub Repository Link: https://github.com/[Your-Username]/[Your-Repo-Name]</a:t>
            </a:r>
            <a:br/>
            <a:r>
              <a:t>• Live Web Dashboard URL: http://localhost:8000 (Hosted via Docker Hadoop Cluster)</a:t>
            </a:r>
            <a:br/>
            <a:r>
              <a:t>• Spark Web UI Monitor:  http://localhost:4040 (Active Stages, DAG Execution &amp; Streaming Telemetry)</a:t>
            </a:r>
            <a:br/>
            <a:r>
              <a:t>• Hadoop NameNode UI:   http://localhost:9870 (HDFS File System &amp; Block Replication Health)</a:t>
            </a:r>
            <a:br/>
            <a:r>
              <a:t>• Downloadable Technical Report (PDF): D:\DockerHadoop\NYC_Taxi_Analytics_Complete_Project_Explanation.pdf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